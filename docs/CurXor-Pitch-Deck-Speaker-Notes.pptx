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30–45 sec</a:t>
            </a:r>
          </a:p>
          <a:p/>
          <a:p>
            <a:r>
              <a:t>SCRIPT (practice aloud)</a:t>
            </a:r>
          </a:p>
          <a:p>
            <a:r>
              <a:t>This is not another AI wrapper. CurXor is a sovereign AI system on your desk —</a:t>
            </a:r>
          </a:p>
          <a:p>
            <a:r>
              <a:t>digital employees for wealth, creation, and work on metal you own.</a:t>
            </a:r>
          </a:p>
          <a:p>
            <a:r>
              <a:t>We're raising a three-million-dollar seed SAFE — eighteen months, five people max.</a:t>
            </a:r>
          </a:p>
          <a:p>
            <a:r>
              <a:t>Proof on the cover: working product on MS-S1 MAX in about twenty days —</a:t>
            </a:r>
          </a:p>
          <a:p>
            <a:r>
              <a:t>three thousand nine hundred ninety-nine dollars once — pre-revenue by design.</a:t>
            </a:r>
          </a:p>
          <a:p>
            <a:r>
              <a:t>I'm Ankur Misra, founder and CEO.</a:t>
            </a:r>
          </a:p>
          <a:p>
            <a:r>
              <a:t>Best next step is a live box demo on your network — Flight Command you can touch —</a:t>
            </a:r>
          </a:p>
          <a:p>
            <a:r>
              <a:t>not a cloud sandbox.</a:t>
            </a:r>
          </a:p>
          <a:p/>
          <a:p>
            <a:r>
              <a:t>CUES</a:t>
            </a:r>
          </a:p>
          <a:p>
            <a:r>
              <a:t>• Pause after “metal you own”</a:t>
            </a:r>
          </a:p>
          <a:p>
            <a:r>
              <a:t>• Point at PROOF &amp; PRICE chip — lead with evidence</a:t>
            </a:r>
          </a:p>
          <a:p>
            <a:r>
              <a:t>• Offer film only if asked</a:t>
            </a:r>
          </a:p>
          <a:p/>
          <a:p>
            <a:r>
              <a:t>HOLD</a:t>
            </a:r>
          </a:p>
          <a:p>
            <a:r>
              <a:t>• No partnership cosplay · no “ChatGPT in a box”</a:t>
            </a:r>
          </a:p>
          <a:p>
            <a:r>
              <a:t>• Port :3080 only if they ask how to connect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40–50 sec</a:t>
            </a:r>
          </a:p>
          <a:p/>
          <a:p>
            <a:r>
              <a:t>SCRIPT (practice aloud)</a:t>
            </a:r>
          </a:p>
          <a:p>
            <a:r>
              <a:t>Operators want more AI. Setup stops them.</a:t>
            </a:r>
          </a:p>
          <a:p>
            <a:r>
              <a:t>Culture says use AI — they open the tab daily and stall after drafts and polish.</a:t>
            </a:r>
          </a:p>
          <a:p>
            <a:r>
              <a:t>They feel under-leveraged, not behind.</a:t>
            </a:r>
          </a:p>
          <a:p>
            <a:r>
              <a:t>Always-on still means repos, keys, scripts, five tabs —</a:t>
            </a:r>
          </a:p>
          <a:p>
            <a:r>
              <a:t>weekend projects that die when life happens.</a:t>
            </a:r>
          </a:p>
          <a:p>
            <a:r>
              <a:t>The market offers chat rent, cloud agents, home cloud, or light assistant boxes —</a:t>
            </a:r>
          </a:p>
          <a:p>
            <a:r>
              <a:t>not employees.</a:t>
            </a:r>
          </a:p>
          <a:p>
            <a:r>
              <a:t>Desk-ready local inference finally exists.</a:t>
            </a:r>
          </a:p>
          <a:p>
            <a:r>
              <a:t>Our wedge is the appliance that turns the chat ceiling into an always-on desk crew.</a:t>
            </a:r>
          </a:p>
          <a:p/>
          <a:p>
            <a:r>
              <a:t>CUES</a:t>
            </a:r>
          </a:p>
          <a:p>
            <a:r>
              <a:t>• Walk the 2×2 · bridge: “Here’s what we built.”</a:t>
            </a:r>
          </a:p>
          <a:p/>
          <a:p>
            <a:r>
              <a:t>HOLD</a:t>
            </a:r>
          </a:p>
          <a:p>
            <a:r>
              <a:t>• Don’t dump demography here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35–45 sec</a:t>
            </a:r>
          </a:p>
          <a:p/>
          <a:p>
            <a:r>
              <a:t>SCRIPT (practice aloud)</a:t>
            </a:r>
          </a:p>
          <a:p>
            <a:r>
              <a:t>Why now, and not three years ago. Three things changed, and I can date all of them.</a:t>
            </a:r>
          </a:p>
          <a:p>
            <a:r>
              <a:t>Models: nine-B-class models finish work now instead of drafting it.</a:t>
            </a:r>
          </a:p>
          <a:p>
            <a:r>
              <a:t>On my own box I measured thirty-eight tokens a second on July fourth this year —</a:t>
            </a:r>
          </a:p>
          <a:p>
            <a:r>
              <a:t>today’s pin runs qwen three-point-five nine-B at about thirty-six.</a:t>
            </a:r>
          </a:p>
          <a:p>
            <a:r>
              <a:t>Metal: sixty-four gigs of unified memory landed on desk-class boards —</a:t>
            </a:r>
          </a:p>
          <a:p>
            <a:r>
              <a:t>operator-grade inference stopped needing a rack, a rented GPU, or a datacenter contract.</a:t>
            </a:r>
          </a:p>
          <a:p>
            <a:r>
              <a:t>Behaviour: operators already pay two to eight hundred a month for AI.</a:t>
            </a:r>
          </a:p>
          <a:p>
            <a:r>
              <a:t>The habit is daily and it still stalls at chat — the gap now has a bill attached.</a:t>
            </a:r>
          </a:p>
          <a:p>
            <a:r>
              <a:t>The counterfactual matters: none of this was true in twenty twenty-three.</a:t>
            </a:r>
          </a:p>
          <a:p>
            <a:r>
              <a:t>The same appliance then would have been a toy. It is buildable now,</a:t>
            </a:r>
          </a:p>
          <a:p>
            <a:r>
              <a:t>and the category has no default yet.</a:t>
            </a:r>
          </a:p>
          <a:p/>
          <a:p>
            <a:r>
              <a:t>CUES</a:t>
            </a:r>
          </a:p>
          <a:p>
            <a:r>
              <a:t>• Date each shift out loud — checkable beats confident</a:t>
            </a:r>
          </a:p>
          <a:p>
            <a:r>
              <a:t>• Land on the counterfactual, then bridge to the box</a:t>
            </a:r>
          </a:p>
          <a:p/>
          <a:p>
            <a:r>
              <a:t>HOLD</a:t>
            </a:r>
          </a:p>
          <a:p>
            <a:r>
              <a:t>• Don’t claim a market-size number here — that’s two slides away</a:t>
            </a:r>
          </a:p>
          <a:p>
            <a:r>
              <a:t>• Offer live System Health if they want to verify tokens per second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50–60 sec</a:t>
            </a:r>
          </a:p>
          <a:p/>
          <a:p>
            <a:r>
              <a:t>SCRIPT (practice aloud)</a:t>
            </a:r>
          </a:p>
          <a:p>
            <a:r>
              <a:t>We build the CurXor box — a desk appliance — running CurXor OS.</a:t>
            </a:r>
          </a:p>
          <a:p>
            <a:r>
              <a:t>Four pillars: compute, engine, mesh, and Flight Command on your network.</a:t>
            </a:r>
          </a:p>
          <a:p>
            <a:r>
              <a:t>A desk crew of ten digital employees.</a:t>
            </a:r>
          </a:p>
          <a:p>
            <a:r>
              <a:t>Flagship today: Capital, Creator, Outreach, plus The Forge and Crew Cafe —</a:t>
            </a:r>
          </a:p>
          <a:p>
            <a:r>
              <a:t>honest Coming Soon on the rest.</a:t>
            </a:r>
          </a:p>
          <a:p>
            <a:r>
              <a:t>Forge mints custom crewmates in plain language on the box.</a:t>
            </a:r>
          </a:p>
          <a:p>
            <a:r>
              <a:t>Cognition stays local — the AI can think on metal you own; no internet required to think.</a:t>
            </a:r>
          </a:p>
          <a:p>
            <a:r>
              <a:t>Outbound crosses an egress boundary you wire and can unplug.</a:t>
            </a:r>
          </a:p>
          <a:p/>
          <a:p>
            <a:r>
              <a:t>CUES</a:t>
            </a:r>
          </a:p>
          <a:p>
            <a:r>
              <a:t>• CurXor box first — MS-S1 is validation metal</a:t>
            </a:r>
          </a:p>
          <a:p>
            <a:r>
              <a:t>• Gloss once: digital employees = desk crew</a:t>
            </a:r>
          </a:p>
          <a:p/>
          <a:p>
            <a:r>
              <a:t>HOLD</a:t>
            </a:r>
          </a:p>
          <a:p>
            <a:r>
              <a:t>• Never lead with “AI agents”</a:t>
            </a:r>
          </a:p>
          <a:p>
            <a:r>
              <a:t>• Don’t claim all ten crewmates are production-complete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50–60 sec</a:t>
            </a:r>
          </a:p>
          <a:p/>
          <a:p>
            <a:r>
              <a:t>SCRIPT (practice aloud)</a:t>
            </a:r>
          </a:p>
          <a:p>
            <a:r>
              <a:t>Beachhead: solo operators, roughly twenty-eight to forty-five,</a:t>
            </a:r>
          </a:p>
          <a:p>
            <a:r>
              <a:t>who already pay for AI and still feel under-leveraged —</a:t>
            </a:r>
          </a:p>
          <a:p>
            <a:r>
              <a:t>three thousand nine hundred ninety-nine dollars once for an always-on desk crew.</a:t>
            </a:r>
          </a:p>
          <a:p>
            <a:r>
              <a:t>TAM — daily AI users who want always-on outcomes, not chat polish.</a:t>
            </a:r>
          </a:p>
          <a:p>
            <a:r>
              <a:t>SAM — English-first operators already spending about two to eight hundred a month</a:t>
            </a:r>
          </a:p>
          <a:p>
            <a:r>
              <a:t>on AI and tools. Bottom-up: if about fifty thousand of that band buy at three nine nine nine,</a:t>
            </a:r>
          </a:p>
          <a:p>
            <a:r>
              <a:t>that’s roughly a two-hundred-million-dollar band — illustrative, not a forecast.</a:t>
            </a:r>
          </a:p>
          <a:p>
            <a:r>
              <a:t>SOM — Act I path: one to five thousand boxes is roughly four to twenty million</a:t>
            </a:r>
          </a:p>
          <a:p>
            <a:r>
              <a:t>in option space — again, not a forecast.</a:t>
            </a:r>
          </a:p>
          <a:p>
            <a:r>
              <a:t>Funnel: millions use AI → under-leveraged → hardware at four thousand → thousands delighted.</a:t>
            </a:r>
          </a:p>
          <a:p/>
          <a:p>
            <a:r>
              <a:t>CUES</a:t>
            </a:r>
          </a:p>
          <a:p>
            <a:r>
              <a:t>• Beachhead card first · say “illustrative” on every dollar band</a:t>
            </a:r>
          </a:p>
          <a:p/>
          <a:p>
            <a:r>
              <a:t>HOLD / IF ASKED</a:t>
            </a:r>
          </a:p>
          <a:p>
            <a:r>
              <a:t>• Not “family thirty to fifty-five” as the open</a:t>
            </a:r>
          </a:p>
          <a:p>
            <a:r>
              <a:t>• Household = expand after the desk is proven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55–70 sec</a:t>
            </a:r>
          </a:p>
          <a:p/>
          <a:p>
            <a:r>
              <a:t>SCRIPT (practice aloud)</a:t>
            </a:r>
          </a:p>
          <a:p>
            <a:r>
              <a:t>Traction today is proof on metal — not ARR yet. I want to be precise.</a:t>
            </a:r>
          </a:p>
          <a:p>
            <a:r>
              <a:t>Headline: twenty days to working product on MS-S1 MAX —</a:t>
            </a:r>
          </a:p>
          <a:p>
            <a:r>
              <a:t>one hundred eighty-two commits, version one point oh three —</a:t>
            </a:r>
          </a:p>
          <a:p>
            <a:r>
              <a:t>two hundred thirty-nine smoke checks — thirty-eight tokens per second local, films live.</a:t>
            </a:r>
          </a:p>
          <a:p>
            <a:r>
              <a:t>Founder-box bridges with real API receipts — not a customer fleet.</a:t>
            </a:r>
          </a:p>
          <a:p>
            <a:r>
              <a:t>Operator golden paths invite-ready. External design-partner intros in flight —</a:t>
            </a:r>
          </a:p>
          <a:p>
            <a:r>
              <a:t>first smiles done; more sessions booking.</a:t>
            </a:r>
          </a:p>
          <a:p>
            <a:r>
              <a:t>Green: metal, smoke, films, founder bridges.</a:t>
            </a:r>
          </a:p>
          <a:p>
            <a:r>
              <a:t>Yellow: flagship desks proven, paper Capital on camera, invite-ready paths.</a:t>
            </a:r>
          </a:p>
          <a:p>
            <a:r>
              <a:t>Red — I say this out loud: paying customers, live broker fills, custom hardware. Later.</a:t>
            </a:r>
          </a:p>
          <a:p>
            <a:r>
              <a:t>Proof-ready now. Traction-ready after operators complete the path without me hand-holding.</a:t>
            </a:r>
          </a:p>
          <a:p/>
          <a:p>
            <a:r>
              <a:t>CUES</a:t>
            </a:r>
          </a:p>
          <a:p>
            <a:r>
              <a:t>• Four chips → Green → Yellow → Red</a:t>
            </a:r>
          </a:p>
          <a:p>
            <a:r>
              <a:t>• Paper Capital out loud</a:t>
            </a:r>
          </a:p>
          <a:p/>
          <a:p>
            <a:r>
              <a:t>HOLD</a:t>
            </a:r>
          </a:p>
          <a:p>
            <a:r>
              <a:t>• No fake logos · bridges = founder box, not a fleet</a:t>
            </a:r>
          </a:p>
          <a:p/>
          <a:p>
            <a:r>
              <a:t>IF ASKED · metric currency</a:t>
            </a:r>
          </a:p>
          <a:p>
            <a:r>
              <a:t>• 38 tok/s is Jul 4 evidence on qwen3:8b — that is what the diligence still shows</a:t>
            </a:r>
          </a:p>
          <a:p>
            <a:r>
              <a:t>• The box today runs qwen3.5:9b at ~36 tok/s (Ollama 0.32.5) — open live System Health</a:t>
            </a:r>
          </a:p>
          <a:p>
            <a:r>
              <a:t>• Same claim, current metal — never let the live box contradict the slide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50–60 sec</a:t>
            </a:r>
          </a:p>
          <a:p/>
          <a:p>
            <a:r>
              <a:t>SCRIPT (practice aloud)</a:t>
            </a:r>
          </a:p>
          <a:p>
            <a:r>
              <a:t>Make money: three thousand nine hundred ninety-nine once —</a:t>
            </a:r>
          </a:p>
          <a:p>
            <a:r>
              <a:t>Pro one-twenty-eight at four thousand nine ninety-nine —</a:t>
            </a:r>
          </a:p>
          <a:p>
            <a:r>
              <a:t>zero monthly operate-plane API; frontier models optional bring-your-own-key.</a:t>
            </a:r>
          </a:p>
          <a:p>
            <a:r>
              <a:t>Revenue is hardware units times price — pre-revenue by design.</a:t>
            </a:r>
          </a:p>
          <a:p>
            <a:r>
              <a:t>Illustrative only: about a thousand boxes roughly four million;</a:t>
            </a:r>
          </a:p>
          <a:p>
            <a:r>
              <a:t>about five thousand roughly twenty — option space, not a forecast.</a:t>
            </a:r>
          </a:p>
          <a:p>
            <a:r>
              <a:t>Grow after proof: design partners, paid units, referrals, deeper desks —</a:t>
            </a:r>
          </a:p>
          <a:p>
            <a:r>
              <a:t>then Pro tier, then custom CurXor metal.</a:t>
            </a:r>
          </a:p>
          <a:p>
            <a:r>
              <a:t>Win metric: a delighted daily operator who refers a peer.</a:t>
            </a:r>
          </a:p>
          <a:p/>
          <a:p>
            <a:r>
              <a:t>CUES</a:t>
            </a:r>
          </a:p>
          <a:p>
            <a:r>
              <a:t>• Say “illustrative” before unit math</a:t>
            </a:r>
          </a:p>
          <a:p/>
          <a:p>
            <a:r>
              <a:t>HOLD</a:t>
            </a:r>
          </a:p>
          <a:p>
            <a:r>
              <a:t>• Never “we will do twenty million”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45–55 sec</a:t>
            </a:r>
          </a:p>
          <a:p/>
          <a:p>
            <a:r>
              <a:t>SCRIPT (practice aloud)</a:t>
            </a:r>
          </a:p>
          <a:p>
            <a:r>
              <a:t>Go-to-market is focused, not paid spray.</a:t>
            </a:r>
          </a:p>
          <a:p>
            <a:r>
              <a:t>Beachhead: solo operators twenty-eight to forty-five</a:t>
            </a:r>
          </a:p>
          <a:p>
            <a:r>
              <a:t>who already pay for AI and still feel under-leveraged —</a:t>
            </a:r>
          </a:p>
          <a:p>
            <a:r>
              <a:t>every cold line is written for that buyer.</a:t>
            </a:r>
          </a:p>
          <a:p>
            <a:r>
              <a:t>Channels: founder X, product X, warm intros, FinTwit and creator communities.</a:t>
            </a:r>
          </a:p>
          <a:p>
            <a:r>
              <a:t>Motion: design-partner remote sessions on the live box.</a:t>
            </a:r>
          </a:p>
          <a:p>
            <a:r>
              <a:t>Path: external operator win, then pre-order, then paid unit, then referral.</a:t>
            </a:r>
          </a:p>
          <a:p>
            <a:r>
              <a:t>Discipline: beachhead only first — household expand later —</a:t>
            </a:r>
          </a:p>
          <a:p>
            <a:r>
              <a:t>no paid spray before the path is proven.</a:t>
            </a:r>
          </a:p>
          <a:p>
            <a:r>
              <a:t>Ten percent of the raise buys onboarding and GTM for those wins.</a:t>
            </a:r>
          </a:p>
          <a:p/>
          <a:p>
            <a:r>
              <a:t>CUES</a:t>
            </a:r>
          </a:p>
          <a:p>
            <a:r>
              <a:t>• Walk Beachhead → Channels → Motion → Path → Discipline</a:t>
            </a:r>
          </a:p>
          <a:p>
            <a:r>
              <a:t>• Live box is the close</a:t>
            </a:r>
          </a:p>
          <a:p/>
          <a:p>
            <a:r>
              <a:t>HOLD</a:t>
            </a:r>
          </a:p>
          <a:p>
            <a:r>
              <a:t>• No “family” as cold segment</a:t>
            </a:r>
          </a:p>
          <a:p>
            <a:r>
              <a:t>• “Alex” = notes only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40–50 sec</a:t>
            </a:r>
          </a:p>
          <a:p/>
          <a:p>
            <a:r>
              <a:t>SCRIPT (practice aloud)</a:t>
            </a:r>
          </a:p>
          <a:p>
            <a:r>
              <a:t>We’re an operator desk — not a home cloud, not a chat appliance.</a:t>
            </a:r>
          </a:p>
          <a:p>
            <a:r>
              <a:t>Personal cloud: apps and storage — not vertical outcomes.</a:t>
            </a:r>
          </a:p>
          <a:p>
            <a:r>
              <a:t>DIY kits: about two hundred hours assembly, still unfinished.</a:t>
            </a:r>
          </a:p>
          <a:p>
            <a:r>
              <a:t>Light assistant boxes: chat layer on light compute.</a:t>
            </a:r>
          </a:p>
          <a:p>
            <a:r>
              <a:t>SaaS and cloud agents: API rent and their retention.</a:t>
            </a:r>
          </a:p>
          <a:p>
            <a:r>
              <a:t>CurXor: desk crew on metal you own — local cognition, controlled egress, kill switch.</a:t>
            </a:r>
          </a:p>
          <a:p>
            <a:r>
              <a:t>The cultural competitor isn’t another logo —</a:t>
            </a:r>
          </a:p>
          <a:p>
            <a:r>
              <a:t>it’s free agent runtime plus a Mac Mini.</a:t>
            </a:r>
          </a:p>
          <a:p>
            <a:r>
              <a:t>We win with a complete OS, a desk crew of ten, egress control, and two hundred hours back.</a:t>
            </a:r>
          </a:p>
          <a:p/>
          <a:p>
            <a:r>
              <a:t>CUES</a:t>
            </a:r>
          </a:p>
          <a:p>
            <a:r>
              <a:t>• Walk the three columns · land on cultural competitor</a:t>
            </a:r>
          </a:p>
          <a:p/>
          <a:p>
            <a:r>
              <a:t>HOLD</a:t>
            </a:r>
          </a:p>
          <a:p>
            <a:r>
              <a:t>• No named logo fights · never Abacus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40–50 sec</a:t>
            </a:r>
          </a:p>
          <a:p/>
          <a:p>
            <a:r>
              <a:t>SCRIPT (practice aloud)</a:t>
            </a:r>
          </a:p>
          <a:p>
            <a:r>
              <a:t>Here is what compounds, and I’ll be precise about which part is defensible.</a:t>
            </a:r>
          </a:p>
          <a:p>
            <a:r>
              <a:t>Workflow lock-in: the Forge. Every crewmate an operator mints is their own workflow</a:t>
            </a:r>
          </a:p>
          <a:p>
            <a:r>
              <a:t>encoded on the box. Leaving means re-minting the whole desk.</a:t>
            </a:r>
          </a:p>
          <a:p>
            <a:r>
              <a:t>Data gravity: rules, context, brand voice and alpha accumulate locally and never leave.</a:t>
            </a:r>
          </a:p>
          <a:p>
            <a:r>
              <a:t>A cloud rival cannot import what it never sees.</a:t>
            </a:r>
          </a:p>
          <a:p>
            <a:r>
              <a:t>Integration surface: a desk crew of ten, an egress boundary, OTA on metal they own.</a:t>
            </a:r>
          </a:p>
          <a:p>
            <a:r>
              <a:t>A competitor has to ship an operating system, not a feature.</a:t>
            </a:r>
          </a:p>
          <a:p>
            <a:r>
              <a:t>Distribution: one invoice, one install. Once the box is on the desk</a:t>
            </a:r>
          </a:p>
          <a:p>
            <a:r>
              <a:t>it becomes the default compute surface — there is no per-app churn.</a:t>
            </a:r>
          </a:p>
          <a:p>
            <a:r>
              <a:t>And what is not a moat: the enclosure. We run validated third-party metal today,</a:t>
            </a:r>
          </a:p>
          <a:p>
            <a:r>
              <a:t>custom CurXor hardware is post-raise. The moat is the operating system</a:t>
            </a:r>
          </a:p>
          <a:p>
            <a:r>
              <a:t>and what the operator builds inside it.</a:t>
            </a:r>
          </a:p>
          <a:p/>
          <a:p>
            <a:r>
              <a:t>CUES</a:t>
            </a:r>
          </a:p>
          <a:p>
            <a:r>
              <a:t>• Four cards, then say the not-a-moat line without flinching</a:t>
            </a:r>
          </a:p>
          <a:p>
            <a:r>
              <a:t>• If they push on hardware, agree first — then return to the OS</a:t>
            </a:r>
          </a:p>
          <a:p/>
          <a:p>
            <a:r>
              <a:t>HOLD</a:t>
            </a:r>
          </a:p>
          <a:p>
            <a:r>
              <a:t>• Never call the box itself proprietary</a:t>
            </a:r>
          </a:p>
          <a:p>
            <a:r>
              <a:t>• Don’t claim network effects between operators — we don’t have them yet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40–50 sec</a:t>
            </a:r>
          </a:p>
          <a:p/>
          <a:p>
            <a:r>
              <a:t>SCRIPT (practice aloud)</a:t>
            </a:r>
          </a:p>
          <a:p>
            <a:r>
              <a:t>Team is lean on purpose. I’m Ankur Misra — founder and CEO, solo founder.</a:t>
            </a:r>
          </a:p>
          <a:p>
            <a:r>
              <a:t>I’m a markets operator building the Capital desk I actually run —</a:t>
            </a:r>
          </a:p>
          <a:p>
            <a:r>
              <a:t>and a customer for the problem: AI every day, still stuck at chat until the desk.</a:t>
            </a:r>
          </a:p>
          <a:p>
            <a:r>
              <a:t>I’ve chased a companion interface that extends thought and execution for years.</a:t>
            </a:r>
          </a:p>
          <a:p>
            <a:r>
              <a:t>June eighteenth I named CurXor in public; June nineteenth first commit.</a:t>
            </a:r>
          </a:p>
          <a:p>
            <a:r>
              <a:t>The build is agent-assisted — that’s how one founder ships an appliance in twenty days —</a:t>
            </a:r>
          </a:p>
          <a:p>
            <a:r>
              <a:t>not a fake ten-person team slide.</a:t>
            </a:r>
          </a:p>
          <a:p>
            <a:r>
              <a:t>Headcount stays at five or fewer through this raise. Depth over headcount.</a:t>
            </a:r>
          </a:p>
          <a:p/>
          <a:p>
            <a:r>
              <a:t>CUES</a:t>
            </a:r>
          </a:p>
          <a:p>
            <a:r>
              <a:t>• Own solo + agent-assisted — don’t apologize</a:t>
            </a:r>
          </a:p>
          <a:p>
            <a:r>
              <a:t>• One sentence on conviction — don’t turn into memoir</a:t>
            </a:r>
          </a:p>
          <a:p/>
          <a:p>
            <a:r>
              <a:t>HOLD</a:t>
            </a:r>
          </a:p>
          <a:p>
            <a:r>
              <a:t>• No invented co-founders · no SpaceX / Cursor partnership claims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55–70 sec</a:t>
            </a:r>
          </a:p>
          <a:p/>
          <a:p>
            <a:r>
              <a:t>SCRIPT (practice aloud)</a:t>
            </a:r>
          </a:p>
          <a:p>
            <a:r>
              <a:t>The ask is three million on a seed SAFE — eighteen months, five people max —</a:t>
            </a:r>
          </a:p>
          <a:p>
            <a:r>
              <a:t>warm intros to angels and funds who care about sovereign compute and operator products.</a:t>
            </a:r>
          </a:p>
          <a:p>
            <a:r>
              <a:t>Milestones this raise: closed external operator wins, first paid units on the path,</a:t>
            </a:r>
          </a:p>
          <a:p>
            <a:r>
              <a:t>and custom CurXor hardware exploration started.</a:t>
            </a:r>
          </a:p>
          <a:p>
            <a:r>
              <a:t>Use of funds on the slide: forty-five percent people, thirty percent hardware exploration,</a:t>
            </a:r>
          </a:p>
          <a:p>
            <a:r>
              <a:t>ten percent GTM, fifteen percent buffer —</a:t>
            </a:r>
          </a:p>
          <a:p>
            <a:r>
              <a:t>prove the desk on validated metal first, own the metal second.</a:t>
            </a:r>
          </a:p>
          <a:p>
            <a:r>
              <a:t>Best next step today: live box demo on your network — Flight Command you can touch.</a:t>
            </a:r>
          </a:p>
          <a:p>
            <a:r>
              <a:t>ankur at curxor.ai · ankurmisra on X · curxor.ai.</a:t>
            </a:r>
          </a:p>
          <a:p>
            <a:r>
              <a:t>Beachhead again: solo operators twenty-eight to forty-five, under-leveraged,</a:t>
            </a:r>
          </a:p>
          <a:p>
            <a:r>
              <a:t>three thousand nine hundred ninety-nine once.</a:t>
            </a:r>
          </a:p>
          <a:p>
            <a:r>
              <a:t>Sovereign metal. Infinite desk crew minting. One invoice.</a:t>
            </a:r>
          </a:p>
          <a:p/>
          <a:p>
            <a:r>
              <a:t>CUES</a:t>
            </a:r>
          </a:p>
          <a:p>
            <a:r>
              <a:t>• Pause on milestones · point at the four fund chips · pause on tagline</a:t>
            </a:r>
          </a:p>
          <a:p>
            <a:r>
              <a:t>• Close with live box, not “I’ll send a deck”</a:t>
            </a:r>
          </a:p>
          <a:p/>
          <a:p>
            <a:r>
              <a:t>HOLD</a:t>
            </a:r>
          </a:p>
          <a:p>
            <a:r>
              <a:t>• No cold spam · no public raise posts</a:t>
            </a:r>
          </a:p>
          <a:p>
            <a:r>
              <a:t>• Family = not the open</a:t>
            </a:r>
          </a:p>
          <a:p>
            <a:r>
              <a:t>• Don’t promise custom box ships inside the seed window</a:t>
            </a:r>
          </a:p>
          <a:p>
            <a:r>
              <a:t>• Port :3080 only if they ask how to connect</a:t>
            </a:r>
          </a:p>
          <a:p/>
          <a:p>
            <a:r>
              <a:t>LINKS</a:t>
            </a:r>
          </a:p>
          <a:p>
            <a:r>
              <a:t>https://curxor.ai</a:t>
            </a:r>
          </a:p>
          <a:p>
            <a:r>
              <a:t>https://curxor.ai/signal#category-film</a:t>
            </a:r>
          </a:p>
          <a:p>
            <a:r>
              <a:t>https://curxor.ai/demo/investor/g3-inception-reel-v1.mp4</a:t>
            </a:r>
          </a:p>
          <a:p>
            <a:r>
              <a:t>https://curxor.ai/demo/hero-category-badge-v5.01.mp4</a:t>
            </a:r>
          </a:p>
          <a:p>
            <a:r>
              <a:t>https://curxor.ai/demo/hero-category-badge-v4.mp4</a:t>
            </a:r>
          </a:p>
          <a:p>
            <a:r>
              <a:t>https://curxor.ai/demo/investor/g3-investor-proof-v1.mp4</a:t>
            </a:r>
          </a:p>
          <a:p>
            <a:r>
              <a:t>https://x.com/ankurmisra/status/2082906591913824351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only if asked (2–3 min)</a:t>
            </a:r>
          </a:p>
          <a:p/>
          <a:p>
            <a:r>
              <a:t>SCRIPT (practice aloud)</a:t>
            </a:r>
          </a:p>
          <a:p>
            <a:r>
              <a:t>Appendix A is maturity and disclaimers — what’s green today versus later.</a:t>
            </a:r>
          </a:p>
          <a:p>
            <a:r>
              <a:t>Appendix B is product and site stills with tip cards — diligence depth, not the cold open.</a:t>
            </a:r>
          </a:p>
          <a:p>
            <a:r>
              <a:t>Jump to the desk they care about: Capital, Creator, Outreach, Forge, Cafe, or the storefront.</a:t>
            </a:r>
          </a:p>
          <a:p>
            <a:r>
              <a:t>On Capital stills, say paper book on camera out loud.</a:t>
            </a:r>
          </a:p>
          <a:p/>
          <a:p>
            <a:r>
              <a:t>CUES · COMMON Q</a:t>
            </a:r>
          </a:p>
          <a:p>
            <a:r>
              <a:t>Q: Just Ollama on a PC?</a:t>
            </a:r>
          </a:p>
          <a:p>
            <a:r>
              <a:t>A: Flight Command, desk crew of ten, Forge, Cafe, kill switch, OTA — appliance product.</a:t>
            </a:r>
          </a:p>
          <a:p>
            <a:r>
              <a:t>Q: Who buys?</a:t>
            </a:r>
          </a:p>
          <a:p>
            <a:r>
              <a:t>A: Solo operators twenty-eight to forty-five who already pay for AI and still feel under-leveraged — three nine nine nine once.</a:t>
            </a:r>
          </a:p>
          <a:p>
            <a:r>
              <a:t>Q: Family / household?</a:t>
            </a:r>
          </a:p>
          <a:p>
            <a:r>
              <a:t>A: Expand after operators prove the desk — not the open.</a:t>
            </a:r>
          </a:p>
          <a:p>
            <a:r>
              <a:t>Q: How do I see it?</a:t>
            </a:r>
          </a:p>
          <a:p>
            <a:r>
              <a:t>A: Live Flight Command on your network — I’ll walk you through.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10 sec</a:t>
            </a:r>
          </a:p>
          <a:p/>
          <a:p>
            <a:r>
              <a:t>SCRIPT (practice aloud)</a:t>
            </a:r>
          </a:p>
          <a:p>
            <a:r>
              <a:t>Appendix B — product and site stills.</a:t>
            </a:r>
          </a:p>
          <a:p>
            <a:r>
              <a:t>I’ll walk a high-level tour of what we built. Tip cards call out functionality.</a:t>
            </a:r>
          </a:p>
          <a:p>
            <a:r>
              <a:t>This is diligence depth — not the cold open.</a:t>
            </a:r>
          </a:p>
          <a:p/>
          <a:p>
            <a:r>
              <a:t>CUES</a:t>
            </a:r>
          </a:p>
          <a:p>
            <a:r>
              <a:t>• Skip if time-boxed; jump to the desks they care about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20–25 sec (appendix)</a:t>
            </a:r>
          </a:p>
          <a:p/>
          <a:p>
            <a:r>
              <a:t>SCRIPT (practice aloud)</a:t>
            </a:r>
          </a:p>
          <a:p>
            <a:r>
              <a:t>This is Flight Command Home — the operator landing on the box.</a:t>
            </a:r>
          </a:p>
          <a:p>
            <a:r>
              <a:t>You see the desk crew, recent activity, and the day-one path —</a:t>
            </a:r>
          </a:p>
          <a:p>
            <a:r>
              <a:t>all on your network, not a rented cloud console.</a:t>
            </a:r>
          </a:p>
          <a:p/>
          <a:p>
            <a:r>
              <a:t>CUES</a:t>
            </a:r>
          </a:p>
          <a:p>
            <a:r>
              <a:t>• Emphasize LAN / metal ownership</a:t>
            </a:r>
          </a:p>
          <a:p>
            <a:r>
              <a:t>HOLD</a:t>
            </a:r>
          </a:p>
          <a:p>
            <a:r>
              <a:t>• Don’t claim every crewmate is production-complete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20–25 sec</a:t>
            </a:r>
          </a:p>
          <a:p/>
          <a:p>
            <a:r>
              <a:t>SCRIPT (practice aloud)</a:t>
            </a:r>
          </a:p>
          <a:p>
            <a:r>
              <a:t>System Health — local inference visible on the desk.</a:t>
            </a:r>
          </a:p>
          <a:p>
            <a:r>
              <a:t>On the MS-S1 we posted about thirty-eight tokens a second on qwen three eight-B,</a:t>
            </a:r>
          </a:p>
          <a:p>
            <a:r>
              <a:t>roughly four and a half gigs of sixty-four in use.</a:t>
            </a:r>
          </a:p>
          <a:p>
            <a:r>
              <a:t>The brain runs on metal you own.</a:t>
            </a:r>
          </a:p>
          <a:p/>
          <a:p>
            <a:r>
              <a:t>CUES</a:t>
            </a:r>
          </a:p>
          <a:p>
            <a:r>
              <a:t>• Pair with paper Capital honesty on the next capital slides</a:t>
            </a:r>
          </a:p>
          <a:p/>
          <a:p>
            <a:r>
              <a:t>IF ASKED · metric currency</a:t>
            </a:r>
          </a:p>
          <a:p>
            <a:r>
              <a:t>• This still is Jul 4 evidence; the box now runs qwen3.5:9b at ~36 tok/s</a:t>
            </a:r>
          </a:p>
          <a:p>
            <a:r>
              <a:t>• Offer live System Health rather than defending the older number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20–25 sec</a:t>
            </a:r>
          </a:p>
          <a:p/>
          <a:p>
            <a:r>
              <a:t>SCRIPT (practice aloud)</a:t>
            </a:r>
          </a:p>
          <a:p>
            <a:r>
              <a:t>Capital desk — rules and a paper book on camera.</a:t>
            </a:r>
          </a:p>
          <a:p>
            <a:r>
              <a:t>I say that out loud: this is practice mode, not live brokerage fills.</a:t>
            </a:r>
          </a:p>
          <a:p>
            <a:r>
              <a:t>The product path is real; live wires are a separate gate.</a:t>
            </a:r>
          </a:p>
          <a:p/>
          <a:p>
            <a:r>
              <a:t>HOLD</a:t>
            </a:r>
          </a:p>
          <a:p>
            <a:r>
              <a:t>• Never imply live fills from this still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15–20 sec</a:t>
            </a:r>
          </a:p>
          <a:p/>
          <a:p>
            <a:r>
              <a:t>SCRIPT (practice aloud)</a:t>
            </a:r>
          </a:p>
          <a:p>
            <a:r>
              <a:t>When a Capital rule fires, the desk and Cafe can show the proof.</a:t>
            </a:r>
          </a:p>
          <a:p>
            <a:r>
              <a:t>That’s the inter-crew mirror — ceremony backed by real activity on the box.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15–20 sec</a:t>
            </a:r>
          </a:p>
          <a:p/>
          <a:p>
            <a:r>
              <a:t>SCRIPT (practice aloud)</a:t>
            </a:r>
          </a:p>
          <a:p>
            <a:r>
              <a:t>Creator queue — content moves from plan to create to schedule on the box.</a:t>
            </a:r>
          </a:p>
          <a:p>
            <a:r>
              <a:t>The pipeline stays with you until you approve anything outbound.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20–25 sec</a:t>
            </a:r>
          </a:p>
          <a:p/>
          <a:p>
            <a:r>
              <a:t>SCRIPT (practice aloud)</a:t>
            </a:r>
          </a:p>
          <a:p>
            <a:r>
              <a:t>Publish approval — nothing goes out until the operator says so.</a:t>
            </a:r>
          </a:p>
          <a:p>
            <a:r>
              <a:t>Local inference can draft; the human stays principal on egress.</a:t>
            </a:r>
          </a:p>
          <a:p/>
          <a:p>
            <a:r>
              <a:t>HOLD</a:t>
            </a:r>
          </a:p>
          <a:p>
            <a:r>
              <a:t>• No autonomous publish fleet claims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15–20 sec</a:t>
            </a:r>
          </a:p>
          <a:p/>
          <a:p>
            <a:r>
              <a:t>SCRIPT (practice aloud)</a:t>
            </a:r>
          </a:p>
          <a:p>
            <a:r>
              <a:t>Work — the Outreach pipeline. Leads, sequences, triage on the appliance.</a:t>
            </a:r>
          </a:p>
          <a:p>
            <a:r>
              <a:t>We don’t show fake sends; the path is real, compliance-gated outbound.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 sec</a:t>
            </a:r>
          </a:p>
          <a:p/>
          <a:p>
            <a:r>
              <a:t>SCRIPT (practice aloud)</a:t>
            </a:r>
          </a:p>
          <a:p>
            <a:r>
              <a:t>Sequences — the always-on outbound shape.</a:t>
            </a:r>
          </a:p>
          <a:p>
            <a:r>
              <a:t>This is how outreach stays on when the chat tab closes.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15–20 sec</a:t>
            </a:r>
          </a:p>
          <a:p/>
          <a:p>
            <a:r>
              <a:t>SCRIPT (practice aloud)</a:t>
            </a:r>
          </a:p>
          <a:p>
            <a:r>
              <a:t>The Forge — mint a custom crewmate in natural language on the box.</a:t>
            </a:r>
          </a:p>
          <a:p>
            <a:r>
              <a:t>That’s how the desk grows without renting another tool.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15–20 sec</a:t>
            </a:r>
          </a:p>
          <a:p/>
          <a:p>
            <a:r>
              <a:t>SCRIPT (practice aloud)</a:t>
            </a:r>
          </a:p>
          <a:p>
            <a:r>
              <a:t>Crew Cafe — the spatial home for the desk crew.</a:t>
            </a:r>
          </a:p>
          <a:p>
            <a:r>
              <a:t>It’s the living mirror. We sell flagship desks first; Cafe is the moat you feel after trust.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 sec</a:t>
            </a:r>
          </a:p>
          <a:p/>
          <a:p>
            <a:r>
              <a:t>SCRIPT (practice aloud)</a:t>
            </a:r>
          </a:p>
          <a:p>
            <a:r>
              <a:t>Settings, Updates — OTA on metal you own.</a:t>
            </a:r>
          </a:p>
          <a:p>
            <a:r>
              <a:t>Hardware is the anchor; the OS evolves without a new rent trap.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 sec</a:t>
            </a:r>
          </a:p>
          <a:p/>
          <a:p>
            <a:r>
              <a:t>SCRIPT (practice aloud)</a:t>
            </a:r>
          </a:p>
          <a:p>
            <a:r>
              <a:t>Unified inbox — channels come to the desk instead of the other way around.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 sec</a:t>
            </a:r>
          </a:p>
          <a:p/>
          <a:p>
            <a:r>
              <a:t>SCRIPT (practice aloud)</a:t>
            </a:r>
          </a:p>
          <a:p>
            <a:r>
              <a:t>Creator calendar — the week of content on the box, not five scheduling tabs.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15–20 sec</a:t>
            </a:r>
          </a:p>
          <a:p/>
          <a:p>
            <a:r>
              <a:t>SCRIPT (practice aloud)</a:t>
            </a:r>
          </a:p>
          <a:p>
            <a:r>
              <a:t>The public site — curxor.ai.</a:t>
            </a:r>
          </a:p>
          <a:p>
            <a:r>
              <a:t>Cold traffic gets plain English: your AI team on a box you own.</a:t>
            </a:r>
          </a:p>
          <a:p>
            <a:r>
              <a:t>Category vision sits on slash signal for people who want the thesis.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practice from SCRIPT</a:t>
            </a:r>
          </a:p>
          <a:p>
            <a:r>
              <a:t>────────────────────────────────────────────</a:t>
            </a:r>
          </a:p>
          <a:p/>
          <a:p>
            <a:r>
              <a:t>TIMING · 10–15 sec</a:t>
            </a:r>
          </a:p>
          <a:p/>
          <a:p>
            <a:r>
              <a:t>SCRIPT (practice aloud)</a:t>
            </a:r>
          </a:p>
          <a:p>
            <a:r>
              <a:t>Film language — the desk conducts.</a:t>
            </a:r>
          </a:p>
          <a:p>
            <a:r>
              <a:t>This is the category beat we pair with the vision reel.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69480" y="932688"/>
            <a:ext cx="4416551" cy="4398264"/>
          </a:xfrm>
          <a:prstGeom prst="rect">
            <a:avLst/>
          </a:prstGeom>
          <a:gradFill rotWithShape="1">
            <a:gsLst>
              <a:gs pos="0">
                <a:srgbClr val="08080C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52360" y="1097280"/>
            <a:ext cx="4233671" cy="40690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x-her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1304029"/>
            <a:ext cx="3977639" cy="36555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rxor-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D2D2DC"/>
                </a:solidFill>
                <a:latin typeface="Consolas"/>
              </a:rPr>
              <a:t>v1.7.2 · August 5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D2D2DC"/>
                </a:solidFill>
                <a:latin typeface="Consolas"/>
              </a:rPr>
              <a:t>1  /  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097280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SOVEREIGN OPERATOR DESK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4173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86000"/>
            <a:ext cx="6675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D2D2DC"/>
                </a:solidFill>
                <a:latin typeface="Segoe UI"/>
              </a:rPr>
              <a:t>A sovereign AI system on your desk — with digital employees that run wealth, creation, and work on metal you 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01568"/>
            <a:ext cx="1645920" cy="41148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675887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675887"/>
            <a:ext cx="64008" cy="713232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76472"/>
            <a:ext cx="6126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RAISE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23359"/>
            <a:ext cx="6126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$3M seed SAFE · 18 months · ≤5 people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6675120" cy="713232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462272"/>
            <a:ext cx="64008" cy="713232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62856"/>
            <a:ext cx="6126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PROOF &amp; 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09744"/>
            <a:ext cx="6126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Working on MS-S1 MAX · 20 days · $3,999 once · pre‑revenue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21808"/>
            <a:ext cx="6675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0808E"/>
                </a:solidFill>
                <a:latin typeface="Segoe UI"/>
              </a:rPr>
              <a:t>Ankur Misra · Founder &amp; CEO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687568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Best next step — live Flight Command on metal you can touch. Not a cloud sandbox.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5285232"/>
            <a:ext cx="423367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Consolas"/>
              </a:rPr>
              <a:t>The box on my desk today — validated MS-S1 MAX metal running CurXor 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THE ASPIRATION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Operators want more AI. Setup stops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5477255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28216"/>
            <a:ext cx="4928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01  ASPIRATION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139696"/>
            <a:ext cx="49286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Culture says use AI — operators stall after drafts and polish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5" y="1499616"/>
            <a:ext cx="5477255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5" y="149961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5" y="1728216"/>
            <a:ext cx="4928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02  SETUP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5" y="2139696"/>
            <a:ext cx="49286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Always-on still means repos, keys, scripts, five tabs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48456"/>
            <a:ext cx="5477255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4845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877056"/>
            <a:ext cx="4928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03  PRODUCT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88536"/>
            <a:ext cx="49286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Chat rent · cloud agents · home cloud · light boxes — not employees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5" y="3648456"/>
            <a:ext cx="5477255" cy="19659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8775" y="3648456"/>
            <a:ext cx="64008" cy="19659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5" y="3877056"/>
            <a:ext cx="4928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04  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5" y="4288536"/>
            <a:ext cx="49286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Local inference on operator-grade hardware is finally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Why 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3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DATED · CHECKABLE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Why now — 2026, not 2023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605783" cy="28803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28803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37360"/>
            <a:ext cx="30571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01 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103120"/>
            <a:ext cx="305714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9B-class models finish work, not just drafts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72384"/>
            <a:ext cx="640080" cy="10972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36976"/>
            <a:ext cx="30571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D2DC"/>
                </a:solidFill>
                <a:latin typeface="Segoe UI"/>
              </a:rPr>
              <a:t>Measured on our own box: 38 tok/s on Jul 4, 2026 (qwen3:8b) · today's pin runs qwen3.5:9b at ~36 tok/s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1583" y="1499616"/>
            <a:ext cx="3605783" cy="28803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1583" y="1499616"/>
            <a:ext cx="64008" cy="28803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5903" y="1737360"/>
            <a:ext cx="30571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02  METAL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5903" y="2103120"/>
            <a:ext cx="305714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64 GB unified memory arrived on desk-class boards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5903" y="3072384"/>
            <a:ext cx="640080" cy="10972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5903" y="3236976"/>
            <a:ext cx="30571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D2DC"/>
                </a:solidFill>
                <a:latin typeface="Segoe UI"/>
              </a:rPr>
              <a:t>Operator-grade inference stopped needing a rack, a rented GPU, or a datacenter contract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499616"/>
            <a:ext cx="3605783" cy="28803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0247" y="1499616"/>
            <a:ext cx="64008" cy="28803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4568" y="1737360"/>
            <a:ext cx="30571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03  BEHAVIOUR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4568" y="2103120"/>
            <a:ext cx="305714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Operators already pay $200–800/mo for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54568" y="3072384"/>
            <a:ext cx="640080" cy="10972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4568" y="3236976"/>
            <a:ext cx="305714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D2DC"/>
                </a:solidFill>
                <a:latin typeface="Segoe UI"/>
              </a:rPr>
              <a:t>The habit is daily and it still stalls at chat — the aspiration gap now has a bill attached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654296"/>
            <a:ext cx="11183111" cy="100584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654296"/>
            <a:ext cx="64008" cy="10058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837176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THE COUNTERFACTUAL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29783"/>
            <a:ext cx="1063447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None of this was true in 2023 — the same appliance would have been a toy. It is buildable now, and the category has no default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4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WE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The CurXor 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4434840" cy="886968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886968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18488"/>
            <a:ext cx="3886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865376"/>
            <a:ext cx="38862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CurXor desk appliance — validated on MS-S1-class metal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59736"/>
            <a:ext cx="4434840" cy="886968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59736"/>
            <a:ext cx="64008" cy="886968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578608"/>
            <a:ext cx="3886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825496"/>
            <a:ext cx="38862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Four pillars — compute · engine · mesh · Flight 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419856"/>
            <a:ext cx="4434840" cy="886968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419856"/>
            <a:ext cx="64008" cy="886968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38728"/>
            <a:ext cx="3886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DESK CREW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85616"/>
            <a:ext cx="38862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Capital · Creator · Outreach · Forge · Crew Cafe + honest previews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379976"/>
            <a:ext cx="4434840" cy="886968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379976"/>
            <a:ext cx="64008" cy="886968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98848"/>
            <a:ext cx="3886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FORGE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745736"/>
            <a:ext cx="38862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Mint custom crewmates in plain language — on the box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40096"/>
            <a:ext cx="4434840" cy="886968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340096"/>
            <a:ext cx="64008" cy="886968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58968"/>
            <a:ext cx="3886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05856"/>
            <a:ext cx="38862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Local cognition · outbound you wire and can unplug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66359" y="1499616"/>
            <a:ext cx="6519672" cy="4169663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290" y="1627631"/>
            <a:ext cx="6261810" cy="391363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66359" y="5797295"/>
            <a:ext cx="6519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Consolas"/>
              </a:rPr>
              <a:t>Flight Command — the operator home, running on the box on your own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5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BOTTOM-UP · NOT THEATER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Beachhead &amp; market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83111" cy="114300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1430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36775"/>
            <a:ext cx="10634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BEACHHEAD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911095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Solo operators 28–45 who already pay for AI and still feel under-leveraged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276856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The appliance that turns the chat ceiling into an always-on desk crew — $3,999 once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871215"/>
            <a:ext cx="3605783" cy="23317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4008" cy="2331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45535"/>
            <a:ext cx="305714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F5AF2"/>
                </a:solidFill>
                <a:latin typeface="Consolas"/>
              </a:rPr>
              <a:t>TAM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48456"/>
            <a:ext cx="3057143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D2D2DC"/>
                </a:solidFill>
                <a:latin typeface="Segoe UI"/>
              </a:rPr>
              <a:t>People who already use AI daily and want always-on outcomes — not chat polish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1583" y="2871215"/>
            <a:ext cx="3605783" cy="23317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1583" y="2871215"/>
            <a:ext cx="64008" cy="2331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5903" y="3145535"/>
            <a:ext cx="305714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F5AF2"/>
                </a:solidFill>
                <a:latin typeface="Consolas"/>
              </a:rPr>
              <a:t>SAM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5903" y="3648456"/>
            <a:ext cx="3057143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D2D2DC"/>
                </a:solidFill>
                <a:latin typeface="Segoe UI"/>
              </a:rPr>
              <a:t>English-first operators paying ~$200–800/mo · if ~50k buy at $3,999 ≈ ~$200M (illustrative)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0247" y="2871215"/>
            <a:ext cx="3605783" cy="23317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0247" y="2871215"/>
            <a:ext cx="64008" cy="23317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4568" y="3145535"/>
            <a:ext cx="305714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F5AF2"/>
                </a:solidFill>
                <a:latin typeface="Consolas"/>
              </a:rPr>
              <a:t>SOM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4568" y="3648456"/>
            <a:ext cx="3057143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D2D2DC"/>
                </a:solidFill>
                <a:latin typeface="Segoe UI"/>
              </a:rPr>
              <a:t>Act I path: 1–5k boxes × $3,999 ≈ $4–20M option space — not a forecast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06440"/>
            <a:ext cx="111831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0808E"/>
                </a:solidFill>
                <a:latin typeface="Consolas"/>
              </a:rPr>
              <a:t>Millions use AI daily  →  under-leveraged  →  hardware at $4k  →  thousands of delighted operators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6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PRE-REVENUE · EVIDENCE OVER THEATER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Proof on metal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2692908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728216"/>
            <a:ext cx="24185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20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68296"/>
            <a:ext cx="24185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Working product on MS-S1 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2987" y="1499616"/>
            <a:ext cx="2692908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2987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0147" y="1728216"/>
            <a:ext cx="24185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182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0147" y="2368296"/>
            <a:ext cx="24185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Commits · v1.0.3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499616"/>
            <a:ext cx="2692908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5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1728216"/>
            <a:ext cx="24185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368296"/>
            <a:ext cx="24185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Smoke checks green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3124" y="1499616"/>
            <a:ext cx="2692908" cy="14173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3124" y="1499616"/>
            <a:ext cx="64008" cy="14173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30284" y="1728216"/>
            <a:ext cx="24185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F5AF2"/>
                </a:solidFill>
                <a:latin typeface="Consolas"/>
              </a:rPr>
              <a:t>38 tok/s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0284" y="2368296"/>
            <a:ext cx="24185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D2D2DC"/>
                </a:solidFill>
                <a:latin typeface="Segoe UI"/>
              </a:rPr>
              <a:t>Local inference · films live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099815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099815"/>
            <a:ext cx="109728" cy="777240"/>
          </a:xfrm>
          <a:prstGeom prst="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30098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48BB78"/>
                </a:solidFill>
                <a:latin typeface="Consolas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300984"/>
            <a:ext cx="8942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Metal · smoke · films · founder-box bridges with real API receipts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68496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9728" cy="777240"/>
          </a:xfrm>
          <a:prstGeom prst="rect">
            <a:avLst/>
          </a:prstGeom>
          <a:solidFill>
            <a:srgbClr val="D4A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169663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848"/>
                </a:solidFill>
                <a:latin typeface="Consolas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4169663"/>
            <a:ext cx="8942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Flagship desks proven · paper Capital on camera · invite-ready paths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837175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837175"/>
            <a:ext cx="109728" cy="777240"/>
          </a:xfrm>
          <a:prstGeom prst="rect">
            <a:avLst/>
          </a:prstGeom>
          <a:solidFill>
            <a:srgbClr val="C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38343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85858"/>
                </a:solidFill>
                <a:latin typeface="Consolas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5038343"/>
            <a:ext cx="8942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Paying customers · live broker fills · custom hardware — later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97880"/>
            <a:ext cx="11183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2D2DC"/>
                </a:solidFill>
                <a:latin typeface="Segoe UI"/>
              </a:rPr>
              <a:t>Proof-ready now · traction-ready after operators complete the path alone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7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HOW WE MAKE MONEY &amp; GROW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Business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5477255" cy="44348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348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28216"/>
            <a:ext cx="4928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MAKE 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31136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$3,999 once · Pro 128 $4,999 · $0/mo operate · frontier optional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82696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Revenue = hardware units × price — pre-revenue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34256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Illustrative: ~1k boxes ≈ $4M · ~5k ≈ $20M (not a forecast)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5" y="1499616"/>
            <a:ext cx="5477255" cy="44348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5" y="1499616"/>
            <a:ext cx="64008" cy="44348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5" y="1728216"/>
            <a:ext cx="4928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GROW · SCOREBOARD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5" y="2231136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Design partners → paid units → referrals → deeper desks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5" y="3282696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Then Pro tier → custom CurXor metal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5" y="4334256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Win metric: delighted daily operator who refers a peer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GTM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8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FOCUSED PATH · NOT PAID SPRAY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Go-to-market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83111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00784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BEACHHEAD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1682495"/>
            <a:ext cx="830275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Solo operators 28–45 who already pay for AI and still feel under-leveraged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22576"/>
            <a:ext cx="11183111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523744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CHANNELS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505456"/>
            <a:ext cx="830275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Founder X · product X · warm intros · FinTwit / creator communities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45536"/>
            <a:ext cx="11183111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14553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46704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MOTION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28416"/>
            <a:ext cx="830275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Design-partner remote sessions on the live box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68496"/>
            <a:ext cx="11183111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96849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69663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151376"/>
            <a:ext cx="830275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External operator win → pre-order → paid unit → referral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91456"/>
            <a:ext cx="11183111" cy="7315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791456"/>
            <a:ext cx="64008" cy="731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92624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DISCIPLINE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974336"/>
            <a:ext cx="830275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Beachhead only first · household expand later · no paid spray before the path is proven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Competition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9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ALTERNATIVES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Why CurXor wins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99616"/>
            <a:ext cx="2743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0808E"/>
                </a:solidFill>
                <a:latin typeface="Consolas"/>
              </a:rPr>
              <a:t>ALTERNATIVE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49961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0808E"/>
                </a:solidFill>
                <a:latin typeface="Consolas"/>
              </a:rPr>
              <a:t>FALLS SHORT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499616"/>
            <a:ext cx="3776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CURXOR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1865376"/>
            <a:ext cx="11183111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18653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121408"/>
            <a:ext cx="2743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Personal 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12140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Apps and storage — not vertical 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121408"/>
            <a:ext cx="3776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Desk crew for trades, content, outreach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25496"/>
            <a:ext cx="11183111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82549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081528"/>
            <a:ext cx="2743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DIY agent kits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08152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200 hours assembly · unfinished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081528"/>
            <a:ext cx="3776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Plug in · mint ·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85616"/>
            <a:ext cx="11183111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78561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041648"/>
            <a:ext cx="2743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Assistant boxes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04164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Chat layer · light compute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041648"/>
            <a:ext cx="3776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Operator-grade depth at $3,999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745736"/>
            <a:ext cx="11183111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74573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01768"/>
            <a:ext cx="2743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SaaS / cloud 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0017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API rent · their 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001768"/>
            <a:ext cx="3776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Local cognition · controlled egress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Moat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10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STRUCTURAL DEFENSIBILITY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What compounds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5477255" cy="16916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6916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00784"/>
            <a:ext cx="49286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01  WORKFLOW LOCK-IN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3"/>
            <a:ext cx="492861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The Forge — every crewmate an operator mints is their own workflow encoded on the box. Leaving means re-minting the desk.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5" y="1499616"/>
            <a:ext cx="5477255" cy="16916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5" y="1499616"/>
            <a:ext cx="64008" cy="16916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5" y="1700784"/>
            <a:ext cx="49286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02  DATA GRAVITY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5" y="2066543"/>
            <a:ext cx="492861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Rules, context, brand voice and alpha accumulate locally and never leave. A cloud rival cannot import what it never sees.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28415"/>
            <a:ext cx="5477255" cy="16916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328415"/>
            <a:ext cx="64008" cy="16916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29584"/>
            <a:ext cx="49286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03  INTEGRATION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95344"/>
            <a:ext cx="492861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Desk crew of ten · egress boundary · OTA on metal they own. A competitor has to ship an operating system, not a feature.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5" y="3328415"/>
            <a:ext cx="5477255" cy="16916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8775" y="3328415"/>
            <a:ext cx="64008" cy="16916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5" y="3529584"/>
            <a:ext cx="49286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04 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5" y="3895344"/>
            <a:ext cx="492861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One invoice, one install. Once the box is on the desk it becomes the default compute surface — no per-app churn.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66944"/>
            <a:ext cx="11183111" cy="932688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266944"/>
            <a:ext cx="109728" cy="932688"/>
          </a:xfrm>
          <a:prstGeom prst="rect">
            <a:avLst/>
          </a:prstGeom>
          <a:solidFill>
            <a:srgbClr val="D4A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85816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D4A848"/>
                </a:solidFill>
                <a:latin typeface="Consolas"/>
              </a:rPr>
              <a:t>SAID OUT 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50992"/>
            <a:ext cx="106344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D2DC"/>
                </a:solidFill>
                <a:latin typeface="Segoe UI"/>
              </a:rPr>
              <a:t>Not a moat: the enclosure. We run validated third-party metal today and custom CurXor hardware is post-raise. The moat is the OS and what the operator builds inside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11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FOUNDER-MARKET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Why this founder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83111" cy="123444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12344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00784"/>
            <a:ext cx="1063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Ankur Misra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31136"/>
            <a:ext cx="10634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D2D2DC"/>
                </a:solidFill>
                <a:latin typeface="Segoe UI"/>
              </a:rPr>
              <a:t>Founder &amp; CEO · solo founder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16936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16936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145536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OPERATOR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18104"/>
            <a:ext cx="830275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Markets operator · builds Capital for his own desk · already pays for AI, still stuck at chat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85615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85615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14215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CONVICTION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986783"/>
            <a:ext cx="830275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Companion interface that extends thought and execution — years in the making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54296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54296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82896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855464"/>
            <a:ext cx="830275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Agent-assisted · named Jun 18 · first commit Jun 19 · 20 days to metal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22975"/>
            <a:ext cx="11183111" cy="77724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522975"/>
            <a:ext cx="64008" cy="7772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51575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PRINCIPLE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5724143"/>
            <a:ext cx="830275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Segoe UI"/>
              </a:rPr>
              <a:t>≤5 people through this raise — depth over headcount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12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AMOUNT · MILESTONES · 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The 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11183111" cy="96012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9601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36775"/>
            <a:ext cx="10634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THE 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911095"/>
            <a:ext cx="1063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$3M seed SAFE · 18 months · ≤5 people · warm intros to sovereign-compute angels and funds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96896"/>
            <a:ext cx="11183111" cy="86868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59689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706624"/>
            <a:ext cx="10634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MILESTONES THIS RAISE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08376"/>
            <a:ext cx="10634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External operator wins · first paid units · custom CurXor hardware exploration started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48456"/>
            <a:ext cx="1118311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USE OF FUNDS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2692908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24185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88536"/>
            <a:ext cx="24185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2987" y="3922776"/>
            <a:ext cx="2692908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2987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0147" y="4032504"/>
            <a:ext cx="24185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HARDWARE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0147" y="4288536"/>
            <a:ext cx="24185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30%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3055" y="3922776"/>
            <a:ext cx="2692908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5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4032504"/>
            <a:ext cx="24185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288536"/>
            <a:ext cx="24185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3124" y="3922776"/>
            <a:ext cx="2692908" cy="86868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93124" y="3922776"/>
            <a:ext cx="64008" cy="86868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30284" y="4032504"/>
            <a:ext cx="24185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0808E"/>
                </a:solidFill>
                <a:latin typeface="Consolas"/>
              </a:rPr>
              <a:t>BUFFER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0284" y="4288536"/>
            <a:ext cx="24185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4974336"/>
            <a:ext cx="106344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·  Best next step: live box demo on your network — Flight Command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266944"/>
            <a:ext cx="106344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2D2DC"/>
                </a:solidFill>
                <a:latin typeface="Segoe UI"/>
              </a:rPr>
              <a:t>·  ankur@curxor.ai · @ankurmisra · curxor.ai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23560"/>
            <a:ext cx="11183111" cy="54864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623560"/>
            <a:ext cx="64008" cy="54864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742432"/>
            <a:ext cx="10908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F5AF2"/>
                </a:solidFill>
                <a:latin typeface="Segoe UI"/>
              </a:rPr>
              <a:t>Sovereign metal. Infinite desk crew minting. One invoice.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13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Q&amp;A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Maturity &amp; disclaimers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99616"/>
          <a:ext cx="11183111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43600"/>
                <a:gridCol w="5239511"/>
              </a:tblGrid>
              <a:tr h="33147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BF5AF2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C1C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BF5AF2"/>
                          </a:solidFill>
                          <a:latin typeface="Consolas"/>
                        </a:rPr>
                        <a:t>Status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C1C2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Software v1.0.3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Working appliance · 239 smoke · golden release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Flagship desk crew + Forge + Cafe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Demo depth · Capital paper on camera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Local LLM on box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qwen3:8b · 38 tok/s · validated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Digital bridges (founder box)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Real receipts · not a customer fleet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MS-S1 MAX validation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Unboxed · film pack live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External operator sessions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Paths invite-ready · intros in flight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Segoe UI"/>
                        </a:rPr>
                        <a:t>Custom CurXor hardware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D2D2DC"/>
                          </a:solidFill>
                          <a:latin typeface="Segoe UI"/>
                        </a:rPr>
                        <a:t>Post-raise exploration</a:t>
                      </a:r>
                    </a:p>
                  </a:txBody>
                  <a:tcPr marL="128016" marR="128016" marT="54864" marB="54864">
                    <a:lnL w="9525" cap="flat" cmpd="sng" algn="ctr">
                      <a:solidFill>
                        <a:srgbClr val="2A2A34"/>
                      </a:solidFill>
                      <a:prstDash val="solid"/>
                    </a:lnL>
                    <a:lnR w="9525" cap="flat" cmpd="sng" algn="ctr">
                      <a:solidFill>
                        <a:srgbClr val="2A2A34"/>
                      </a:solidFill>
                      <a:prstDash val="solid"/>
                    </a:lnR>
                    <a:lnT w="9525" cap="flat" cmpd="sng" algn="ctr">
                      <a:solidFill>
                        <a:srgbClr val="2A2A34"/>
                      </a:solidFill>
                      <a:prstDash val="solid"/>
                    </a:lnT>
                    <a:lnB w="9525" cap="flat" cmpd="sng" algn="ctr">
                      <a:solidFill>
                        <a:srgbClr val="2A2A34"/>
                      </a:solidFill>
                      <a:prstDash val="solid"/>
                    </a:lnB>
                    <a:solidFill>
                      <a:srgbClr val="16161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4370832"/>
            <a:ext cx="111831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DISCLAIMERS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11831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No guaranteed returns — Capital performance is strategy-dependent.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29200"/>
            <a:ext cx="111831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Creator posts require operator approval before publishing.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76672"/>
            <a:ext cx="111831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Paper trading on camera; live trades only when configured.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724144"/>
            <a:ext cx="111831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0808E"/>
                </a:solidFill>
                <a:latin typeface="Segoe UI"/>
              </a:rPr>
              <a:t>·  Illustrative unit math is option space — not a revenue forecast.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14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45920"/>
            <a:ext cx="11183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F5AF2"/>
                </a:solidFill>
                <a:latin typeface="Consolas"/>
              </a:rPr>
              <a:t>APPENDIX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11680"/>
            <a:ext cx="111831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Product &amp; site stills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D2D2DC"/>
                </a:solidFill>
                <a:latin typeface="Segoe UI"/>
              </a:rPr>
              <a:t>High-level tour of what shipped — tip overlays call out functionality. Diligence depth, not the cold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66160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01  Flight Command · 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58768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02  System Health · local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151376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03  Capital · paper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43983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04  Capital · rule fired · Cafe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736592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05  Creator · content 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06  Creator · publish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21808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07  Outreach · Work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14416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08  Outreach · sequences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8775" y="3566160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09  The Forge · mint crewmates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5" y="3858768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10  Crew Cafe · spatial 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5" y="4151376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11  Settings · OTA updates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5" y="4443983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12  Comms · unified inbox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8775" y="4736592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13  Creator · content calendar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5" y="5029200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14  curxor.ai · storefront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8775" y="5321808"/>
            <a:ext cx="5477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0808E"/>
                </a:solidFill>
                <a:latin typeface="Consolas"/>
              </a:rPr>
              <a:t>15  GTM · conductor plate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15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Flight Command · Home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Desk crew at a glance — Capital · Creator · Outreach and more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home on the LAN — not a cloud tab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Activity and day-one story without leaving the 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16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System Health · local inference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Live tok/s and RAM — cognition on the appliance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Posted MS-S1 proof: qwen3:8b · ~38 tok/s · 4.56 / 64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can see health without leaving Flight Command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Jul 4 still on qwen3:8b — box today runs qwen3.5:9b at ~36 tok/s.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07-system-health-t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17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Capital · paper 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Rules-bound trading desk on the appliance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Practice / paper book on camera — real UI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Alpha and context stay local until you wire egress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Paper book on camera — not live brokerage fills.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02-capital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18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Capital · rule fired · Cafe proof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Rule execution surfaces in the product — not a toy alert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Crew Cafe mirrors real desk 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Inter-crew proof path for operator trust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Staged RULE FIRED for capture — real UI path.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05-cafe-rule-f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19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Creator · content queue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Plan → create → queue on metal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Scheduled rows without five browser tabs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Sovereign copy draft path before any publish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3-creator-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20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Creator · publish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approval gate before anything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Local drafts → explicit skill / publish confirm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Egress is earned — not silent publish fleets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Approval path is real; bridge accounts may be founder-configured.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08-creator-publish-appro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21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Outreach · Work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Lead triage and active sequences on the desk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Pipeline visibility without a SaaS maze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Needs-you / approval patterns for trust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UI and routing are real — no fabricated “sent” events on camera.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04-work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22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Outreach · sequences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Sequence builder for always-on outbound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Steps and timing owned on the 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Pairs with pipeline for day-to-day run state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22-seque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Moat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23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The Forge · mint crewmates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Mint custom crewmates in plain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Expand the desk without a new SaaS per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On-box creation — not a cloud agent store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4-fo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Moat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24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Crew Cafe · spatial proof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Living mirror of operator and crew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Inter-crew ceremony — not chrome for its own sake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Moat narrative after flagship desks prove depth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Cafe mirrors real ops — don’t lead the buy with Cafe alone.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9-pixel-r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Ownership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25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Settings · OTA updates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Operator-owned update path on the appliance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Check / install without surrendering the 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Software evolves on metal you already 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6-settings-up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26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Comms · unified inbox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One inbox surface across wired channels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Operator triage without tab sprawl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Pairs with Outreach and Creator engage paths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7-unified-in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Flagship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27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Creator · content calendar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Calendar view for scheduled sovereign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See the week without leaving Creator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Supports the sleep-while-it-drafts promise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10-content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Website · GTM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28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curxor.ai · storefront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16052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Cold hero: Your AI team. On a box you own.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Pre-order + proof links for warm intros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Vision film lives on /signal — not forced on homepage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848"/>
                </a:solidFill>
                <a:latin typeface="Consolas"/>
              </a:rPr>
              <a:t>Honesty: GTM ship-now hero — dream-state copy stays on /signal and deck.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torefront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213" y="1627631"/>
            <a:ext cx="6759245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A860D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"/>
            <a:ext cx="50292" cy="6812280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1151" y="2011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08E"/>
                </a:solidFill>
                <a:latin typeface="Consolas"/>
              </a:rPr>
              <a:t>Appendix B · Website · Film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83111" cy="9144"/>
          </a:xfrm>
          <a:prstGeom prst="rect">
            <a:avLst/>
          </a:prstGeom>
          <a:solidFill>
            <a:srgbClr val="2A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858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0808E"/>
                </a:solidFill>
                <a:latin typeface="Consolas"/>
              </a:rPr>
              <a:t>curxor.ai  ·  Sovereign metal · desk crew · one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64739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80808E"/>
                </a:solidFill>
                <a:latin typeface="Consolas"/>
              </a:rPr>
              <a:t>29  /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"/>
            <a:ext cx="111831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STILL · FUNCTIONALITY TIPS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118311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GTM · conductor plate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35024"/>
            <a:ext cx="1051560" cy="36576"/>
          </a:xfrm>
          <a:prstGeom prst="rect">
            <a:avLst/>
          </a:prstGeom>
          <a:gradFill rotWithShape="1">
            <a:gsLst>
              <a:gs pos="0">
                <a:srgbClr val="BF5AF2"/>
              </a:gs>
              <a:gs pos="100000">
                <a:srgbClr val="48286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1499616"/>
            <a:ext cx="3246120" cy="4480560"/>
          </a:xfrm>
          <a:prstGeom prst="roundRect">
            <a:avLst>
              <a:gd name="adj" fmla="val 8000"/>
            </a:avLst>
          </a:prstGeom>
          <a:solidFill>
            <a:srgbClr val="1C1C24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99616"/>
            <a:ext cx="64008" cy="448056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82495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5AF2"/>
                </a:solidFill>
                <a:latin typeface="Consolas"/>
              </a:rPr>
              <a:t>WHAT TO NOTICE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025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00253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Category / film visual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340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3405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Desk as conductor — interfaces drift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65576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Use with vision reel, not as the cold open alone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1499616"/>
            <a:ext cx="7708392" cy="4480560"/>
          </a:xfrm>
          <a:prstGeom prst="roundRect">
            <a:avLst>
              <a:gd name="adj" fmla="val 8000"/>
            </a:avLst>
          </a:prstGeom>
          <a:solidFill>
            <a:srgbClr val="16161C"/>
          </a:solidFill>
          <a:ln w="9525">
            <a:solidFill>
              <a:srgbClr val="2A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conductor-glance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89" y="1627631"/>
            <a:ext cx="1952092" cy="4224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